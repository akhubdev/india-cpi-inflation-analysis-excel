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6" r:id="rId9"/>
    <p:sldId id="267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oding_ninjas_project\Excel_%20CPI_ProjectCN\All_India_Index_Upto_April23%20(Akash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[All_India_Index_Upto_April23 (Akash).xlsx]Pivot!PivotTable3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rgbClr val="17365D"/>
                </a:solidFill>
              </a:rPr>
              <a:t>CPI Index Trend (2017–2023)</a:t>
            </a:r>
            <a:endParaRPr lang="en-US">
              <a:solidFill>
                <a:srgbClr val="17365D"/>
              </a:solidFill>
            </a:endParaRPr>
          </a:p>
        </c:rich>
      </c:tx>
      <c:layout>
        <c:manualLayout>
          <c:xMode val="edge"/>
          <c:yMode val="edge"/>
          <c:x val="2.8183933358065731E-2"/>
          <c:y val="1.84659049602037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17365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193127033436708"/>
          <c:y val="0.18507453246364253"/>
          <c:w val="0.87409624423992538"/>
          <c:h val="0.70783121581263064"/>
        </c:manualLayout>
      </c:layout>
      <c:lineChart>
        <c:grouping val="standard"/>
        <c:varyColors val="0"/>
        <c:ser>
          <c:idx val="0"/>
          <c:order val="0"/>
          <c:tx>
            <c:strRef>
              <c:f>Pivot!$C$3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Pivot!$B$4:$B$11</c:f>
              <c:strCach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strCache>
            </c:strRef>
          </c:cat>
          <c:val>
            <c:numRef>
              <c:f>Pivot!$C$4:$C$11</c:f>
              <c:numCache>
                <c:formatCode>0.00</c:formatCode>
                <c:ptCount val="7"/>
                <c:pt idx="0">
                  <c:v>133.38611111111112</c:v>
                </c:pt>
                <c:pt idx="1">
                  <c:v>138.66944444444442</c:v>
                </c:pt>
                <c:pt idx="2">
                  <c:v>144.1272727272727</c:v>
                </c:pt>
                <c:pt idx="3">
                  <c:v>153.32999999999998</c:v>
                </c:pt>
                <c:pt idx="4">
                  <c:v>161.41666666666666</c:v>
                </c:pt>
                <c:pt idx="5">
                  <c:v>172.07500000000002</c:v>
                </c:pt>
                <c:pt idx="6">
                  <c:v>177.57333333333332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78-463E-A851-6E4F3AA05D6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88488352"/>
        <c:axId val="1626678832"/>
      </c:lineChart>
      <c:catAx>
        <c:axId val="168848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6678832"/>
        <c:crosses val="autoZero"/>
        <c:auto val="1"/>
        <c:lblAlgn val="ctr"/>
        <c:lblOffset val="100"/>
        <c:noMultiLvlLbl val="0"/>
      </c:catAx>
      <c:valAx>
        <c:axId val="1626678832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8488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[All_India_Index_Upto_April23 (Akash).xlsx]Pivot!PivotTable9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>
                <a:solidFill>
                  <a:srgbClr val="17365D"/>
                </a:solidFill>
              </a:rPr>
              <a:t>CPI Contribution by Category (2023)</a:t>
            </a:r>
            <a:endParaRPr lang="en-US">
              <a:solidFill>
                <a:srgbClr val="17365D"/>
              </a:solidFill>
            </a:endParaRPr>
          </a:p>
        </c:rich>
      </c:tx>
      <c:layout>
        <c:manualLayout>
          <c:xMode val="edge"/>
          <c:yMode val="edge"/>
          <c:x val="2.8201224846894135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5340471619679233"/>
          <c:y val="0.1837383990273446"/>
          <c:w val="0.68463909240847221"/>
          <c:h val="0.685193941838309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Pivot!$F$3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CD8-4877-890C-582050786035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FCD8-4877-890C-5820507860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Pivot!$E$4:$E$15</c:f>
              <c:strCache>
                <c:ptCount val="12"/>
                <c:pt idx="0">
                  <c:v>Clothing &amp; Footwear</c:v>
                </c:pt>
                <c:pt idx="1">
                  <c:v>Education</c:v>
                </c:pt>
                <c:pt idx="2">
                  <c:v>Food</c:v>
                </c:pt>
                <c:pt idx="3">
                  <c:v>Fuel &amp; Light</c:v>
                </c:pt>
                <c:pt idx="4">
                  <c:v>Health</c:v>
                </c:pt>
                <c:pt idx="5">
                  <c:v>Household Goods &amp; Services</c:v>
                </c:pt>
                <c:pt idx="6">
                  <c:v>Housing</c:v>
                </c:pt>
                <c:pt idx="7">
                  <c:v>Miscellaneous</c:v>
                </c:pt>
                <c:pt idx="8">
                  <c:v>Pan, Tobacco &amp; Intoxicants</c:v>
                </c:pt>
                <c:pt idx="9">
                  <c:v>Personal Care &amp; Effects</c:v>
                </c:pt>
                <c:pt idx="10">
                  <c:v>Recreation &amp; Amusement</c:v>
                </c:pt>
                <c:pt idx="11">
                  <c:v>Transport &amp; Communication</c:v>
                </c:pt>
              </c:strCache>
            </c:strRef>
          </c:cat>
          <c:val>
            <c:numRef>
              <c:f>Pivot!$F$4:$F$15</c:f>
              <c:numCache>
                <c:formatCode>0.00%</c:formatCode>
                <c:ptCount val="12"/>
                <c:pt idx="0">
                  <c:v>8.6219670309316543E-2</c:v>
                </c:pt>
                <c:pt idx="1">
                  <c:v>8.200592702352287E-2</c:v>
                </c:pt>
                <c:pt idx="2">
                  <c:v>8.2932024448972033E-2</c:v>
                </c:pt>
                <c:pt idx="3">
                  <c:v>8.4645304686052983E-2</c:v>
                </c:pt>
                <c:pt idx="4">
                  <c:v>8.5988145952954245E-2</c:v>
                </c:pt>
                <c:pt idx="5">
                  <c:v>8.1126134469346176E-2</c:v>
                </c:pt>
                <c:pt idx="6">
                  <c:v>8.1311353954436005E-2</c:v>
                </c:pt>
                <c:pt idx="7">
                  <c:v>8.1357658825708459E-2</c:v>
                </c:pt>
                <c:pt idx="8">
                  <c:v>9.3072791257640314E-2</c:v>
                </c:pt>
                <c:pt idx="9">
                  <c:v>8.5756621596591961E-2</c:v>
                </c:pt>
                <c:pt idx="10">
                  <c:v>7.9273939618447864E-2</c:v>
                </c:pt>
                <c:pt idx="11">
                  <c:v>7.631042785701056E-2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8-4877-890C-58205078603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983865424"/>
        <c:axId val="1040864784"/>
      </c:barChart>
      <c:catAx>
        <c:axId val="1983865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0864784"/>
        <c:crosses val="autoZero"/>
        <c:auto val="1"/>
        <c:lblAlgn val="ctr"/>
        <c:lblOffset val="100"/>
        <c:noMultiLvlLbl val="0"/>
      </c:catAx>
      <c:valAx>
        <c:axId val="1040864784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865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[All_India_Index_Upto_April23 (Akash).xlsx]Pivot!PivotTable10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17365D"/>
                </a:solidFill>
              </a:rPr>
              <a:t>YoY</a:t>
            </a:r>
            <a:r>
              <a:rPr lang="en-US" baseline="0">
                <a:solidFill>
                  <a:srgbClr val="17365D"/>
                </a:solidFill>
              </a:rPr>
              <a:t> Inflation Trend (2017-2023)</a:t>
            </a:r>
            <a:endParaRPr lang="en-US">
              <a:solidFill>
                <a:srgbClr val="17365D"/>
              </a:solidFill>
            </a:endParaRPr>
          </a:p>
        </c:rich>
      </c:tx>
      <c:layout>
        <c:manualLayout>
          <c:xMode val="edge"/>
          <c:yMode val="edge"/>
          <c:x val="2.7027777777777789E-2"/>
          <c:y val="2.31481481481481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6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6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tint val="100000"/>
                  <a:shade val="100000"/>
                  <a:satMod val="13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6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9617112025676773E-2"/>
          <c:y val="0.14356314887179772"/>
          <c:w val="0.92047079764384521"/>
          <c:h val="0.77218650046397774"/>
        </c:manualLayout>
      </c:layout>
      <c:lineChart>
        <c:grouping val="standard"/>
        <c:varyColors val="0"/>
        <c:ser>
          <c:idx val="0"/>
          <c:order val="0"/>
          <c:tx>
            <c:strRef>
              <c:f>Pivot!$I$3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6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dLbl>
              <c:idx val="1"/>
              <c:layout>
                <c:manualLayout>
                  <c:x val="-3.1258572950789369E-2"/>
                  <c:y val="3.5980853955755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727070941845606E-2"/>
                      <c:h val="6.692718097737783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CC5-4E72-9EB4-8DF3E65A9FCB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CC5-4E72-9EB4-8DF3E65A9F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Pivot!$H$4:$H$11</c:f>
              <c:strCach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strCache>
            </c:strRef>
          </c:cat>
          <c:val>
            <c:numRef>
              <c:f>Pivot!$I$4:$I$11</c:f>
              <c:numCache>
                <c:formatCode>0.0%</c:formatCode>
                <c:ptCount val="7"/>
                <c:pt idx="0">
                  <c:v>5.295471987720627E-2</c:v>
                </c:pt>
                <c:pt idx="1">
                  <c:v>2.3374726077428697E-2</c:v>
                </c:pt>
                <c:pt idx="2">
                  <c:v>7.7363896848137617E-2</c:v>
                </c:pt>
                <c:pt idx="3">
                  <c:v>5.7922769640479481E-2</c:v>
                </c:pt>
                <c:pt idx="4">
                  <c:v>5.657978385251098E-2</c:v>
                </c:pt>
                <c:pt idx="5">
                  <c:v>6.0350030175015092E-2</c:v>
                </c:pt>
                <c:pt idx="6">
                  <c:v>1.4730878186968806E-2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C5-4E72-9EB4-8DF3E65A9FC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84915680"/>
        <c:axId val="1986621904"/>
      </c:lineChart>
      <c:catAx>
        <c:axId val="198491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6621904"/>
        <c:crosses val="autoZero"/>
        <c:auto val="1"/>
        <c:lblAlgn val="ctr"/>
        <c:lblOffset val="100"/>
        <c:noMultiLvlLbl val="0"/>
      </c:catAx>
      <c:valAx>
        <c:axId val="1986621904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4915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[All_India_Index_Upto_April23 (Akash).xlsx]Pivot!PivotTable11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>
                <a:solidFill>
                  <a:srgbClr val="17365D"/>
                </a:solidFill>
              </a:rPr>
              <a:t>Food Inflation Trend (Jun 2022–May 2023)</a:t>
            </a:r>
          </a:p>
        </c:rich>
      </c:tx>
      <c:layout>
        <c:manualLayout>
          <c:xMode val="edge"/>
          <c:yMode val="edge"/>
          <c:x val="1.2904787534120067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3895817135287926E-2"/>
          <c:y val="0.22726851851851851"/>
          <c:w val="0.76783328400607942"/>
          <c:h val="0.558857174103237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Pivot!$L$3</c:f>
              <c:strCache>
                <c:ptCount val="1"/>
                <c:pt idx="0">
                  <c:v>Average of Food index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Pivot!$K$4:$K$16</c:f>
              <c:strCache>
                <c:ptCount val="12"/>
                <c:pt idx="0">
                  <c:v>Jun-2022</c:v>
                </c:pt>
                <c:pt idx="1">
                  <c:v>Jul-2022</c:v>
                </c:pt>
                <c:pt idx="2">
                  <c:v>Aug-2022</c:v>
                </c:pt>
                <c:pt idx="3">
                  <c:v>Sep-2022</c:v>
                </c:pt>
                <c:pt idx="4">
                  <c:v>Oct-2022</c:v>
                </c:pt>
                <c:pt idx="5">
                  <c:v>Nov-2022</c:v>
                </c:pt>
                <c:pt idx="6">
                  <c:v>Dec-2022</c:v>
                </c:pt>
                <c:pt idx="7">
                  <c:v>Jan-2023</c:v>
                </c:pt>
                <c:pt idx="8">
                  <c:v>Feb-2023</c:v>
                </c:pt>
                <c:pt idx="9">
                  <c:v>Mar-2023</c:v>
                </c:pt>
                <c:pt idx="10">
                  <c:v>Apr-2023</c:v>
                </c:pt>
                <c:pt idx="11">
                  <c:v>May-2023</c:v>
                </c:pt>
              </c:strCache>
            </c:strRef>
          </c:cat>
          <c:val>
            <c:numRef>
              <c:f>Pivot!$L$4:$L$16</c:f>
              <c:numCache>
                <c:formatCode>0.00</c:formatCode>
                <c:ptCount val="12"/>
                <c:pt idx="0">
                  <c:v>175.53333333333333</c:v>
                </c:pt>
                <c:pt idx="1">
                  <c:v>175.63333333333333</c:v>
                </c:pt>
                <c:pt idx="2">
                  <c:v>176.86666666666667</c:v>
                </c:pt>
                <c:pt idx="3">
                  <c:v>178.36666666666667</c:v>
                </c:pt>
                <c:pt idx="4">
                  <c:v>180.1</c:v>
                </c:pt>
                <c:pt idx="5">
                  <c:v>178.73333333333335</c:v>
                </c:pt>
                <c:pt idx="6">
                  <c:v>176.29999999999998</c:v>
                </c:pt>
                <c:pt idx="7">
                  <c:v>177.06666666666669</c:v>
                </c:pt>
                <c:pt idx="8">
                  <c:v>177.5</c:v>
                </c:pt>
                <c:pt idx="9">
                  <c:v>177.53333333333333</c:v>
                </c:pt>
                <c:pt idx="10">
                  <c:v>178.5</c:v>
                </c:pt>
                <c:pt idx="11">
                  <c:v>179.66666666666666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1D-4D39-B161-AD06D715D3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3138640"/>
        <c:axId val="1986614704"/>
      </c:barChart>
      <c:lineChart>
        <c:grouping val="standard"/>
        <c:varyColors val="0"/>
        <c:ser>
          <c:idx val="1"/>
          <c:order val="1"/>
          <c:tx>
            <c:strRef>
              <c:f>Pivot!$M$3</c:f>
              <c:strCache>
                <c:ptCount val="1"/>
                <c:pt idx="0">
                  <c:v>Average of MoM Inflation %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Pivot!$K$4:$K$16</c:f>
              <c:strCache>
                <c:ptCount val="12"/>
                <c:pt idx="0">
                  <c:v>Jun-2022</c:v>
                </c:pt>
                <c:pt idx="1">
                  <c:v>Jul-2022</c:v>
                </c:pt>
                <c:pt idx="2">
                  <c:v>Aug-2022</c:v>
                </c:pt>
                <c:pt idx="3">
                  <c:v>Sep-2022</c:v>
                </c:pt>
                <c:pt idx="4">
                  <c:v>Oct-2022</c:v>
                </c:pt>
                <c:pt idx="5">
                  <c:v>Nov-2022</c:v>
                </c:pt>
                <c:pt idx="6">
                  <c:v>Dec-2022</c:v>
                </c:pt>
                <c:pt idx="7">
                  <c:v>Jan-2023</c:v>
                </c:pt>
                <c:pt idx="8">
                  <c:v>Feb-2023</c:v>
                </c:pt>
                <c:pt idx="9">
                  <c:v>Mar-2023</c:v>
                </c:pt>
                <c:pt idx="10">
                  <c:v>Apr-2023</c:v>
                </c:pt>
                <c:pt idx="11">
                  <c:v>May-2023</c:v>
                </c:pt>
              </c:strCache>
            </c:strRef>
          </c:cat>
          <c:val>
            <c:numRef>
              <c:f>Pivot!$M$4:$M$16</c:f>
              <c:numCache>
                <c:formatCode>0.00%</c:formatCode>
                <c:ptCount val="12"/>
                <c:pt idx="1">
                  <c:v>5.6969236612226164E-4</c:v>
                </c:pt>
                <c:pt idx="2">
                  <c:v>7.0222053520593011E-3</c:v>
                </c:pt>
                <c:pt idx="3">
                  <c:v>8.4809649453448915E-3</c:v>
                </c:pt>
                <c:pt idx="4">
                  <c:v>9.7178097551858713E-3</c:v>
                </c:pt>
                <c:pt idx="5">
                  <c:v>-7.5883768276882061E-3</c:v>
                </c:pt>
                <c:pt idx="6">
                  <c:v>-1.3614323013801E-2</c:v>
                </c:pt>
                <c:pt idx="7">
                  <c:v>4.3486481376444038E-3</c:v>
                </c:pt>
                <c:pt idx="8">
                  <c:v>2.4472891566263665E-3</c:v>
                </c:pt>
                <c:pt idx="9">
                  <c:v>1.8779342723003627E-4</c:v>
                </c:pt>
                <c:pt idx="10">
                  <c:v>5.4449868569282868E-3</c:v>
                </c:pt>
                <c:pt idx="11">
                  <c:v>6.5359477124182479E-3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1D-4D39-B161-AD06D715D3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3137248"/>
        <c:axId val="1986622384"/>
      </c:lineChart>
      <c:catAx>
        <c:axId val="1983138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6614704"/>
        <c:crosses val="autoZero"/>
        <c:auto val="1"/>
        <c:lblAlgn val="ctr"/>
        <c:lblOffset val="100"/>
        <c:noMultiLvlLbl val="0"/>
      </c:catAx>
      <c:valAx>
        <c:axId val="198661470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138640"/>
        <c:crosses val="autoZero"/>
        <c:crossBetween val="between"/>
      </c:valAx>
      <c:valAx>
        <c:axId val="1986622384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137248"/>
        <c:crosses val="max"/>
        <c:crossBetween val="between"/>
      </c:valAx>
      <c:catAx>
        <c:axId val="19831372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86622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0873659135216063"/>
          <c:y val="1.5253353747448233E-2"/>
          <c:w val="0.37459684693277706"/>
          <c:h val="0.159724409448818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[All_India_Index_Upto_April23 (Akash).xlsx]Pivot!PivotTable14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>
                <a:solidFill>
                  <a:srgbClr val="17365D"/>
                </a:solidFill>
              </a:rPr>
              <a:t>Before Vs After COVID - Category Impact</a:t>
            </a:r>
          </a:p>
        </c:rich>
      </c:tx>
      <c:layout>
        <c:manualLayout>
          <c:xMode val="edge"/>
          <c:yMode val="edge"/>
          <c:x val="6.7911647844051569E-3"/>
          <c:y val="2.30926894915314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108114610673665"/>
          <c:y val="0.17171296296296296"/>
          <c:w val="0.86237160979877514"/>
          <c:h val="0.777361111111111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Pivot!$D$22</c:f>
              <c:strCache>
                <c:ptCount val="1"/>
                <c:pt idx="0">
                  <c:v>Average of Before COVID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Pivot!$C$23:$C$27</c:f>
              <c:strCache>
                <c:ptCount val="5"/>
                <c:pt idx="0">
                  <c:v>Food MoM %</c:v>
                </c:pt>
                <c:pt idx="1">
                  <c:v>Fuel MoM %</c:v>
                </c:pt>
                <c:pt idx="2">
                  <c:v>General MoM %</c:v>
                </c:pt>
                <c:pt idx="3">
                  <c:v>Health MoM %</c:v>
                </c:pt>
                <c:pt idx="4">
                  <c:v>Transport MoM %</c:v>
                </c:pt>
              </c:strCache>
            </c:strRef>
          </c:cat>
          <c:val>
            <c:numRef>
              <c:f>Pivot!$D$23:$D$27</c:f>
              <c:numCache>
                <c:formatCode>0.00%</c:formatCode>
                <c:ptCount val="5"/>
                <c:pt idx="0">
                  <c:v>6.5420436408809074E-3</c:v>
                </c:pt>
                <c:pt idx="1">
                  <c:v>4.5462007382752138E-3</c:v>
                </c:pt>
                <c:pt idx="2">
                  <c:v>4.9814666227370888E-3</c:v>
                </c:pt>
                <c:pt idx="3">
                  <c:v>3.6162955891790058E-3</c:v>
                </c:pt>
                <c:pt idx="4">
                  <c:v>4.8404980213359499E-3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2-43D8-8213-05A2124573F7}"/>
            </c:ext>
          </c:extLst>
        </c:ser>
        <c:ser>
          <c:idx val="1"/>
          <c:order val="1"/>
          <c:tx>
            <c:strRef>
              <c:f>Pivot!$E$22</c:f>
              <c:strCache>
                <c:ptCount val="1"/>
                <c:pt idx="0">
                  <c:v>Average of After COVID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Pivot!$C$23:$C$27</c:f>
              <c:strCache>
                <c:ptCount val="5"/>
                <c:pt idx="0">
                  <c:v>Food MoM %</c:v>
                </c:pt>
                <c:pt idx="1">
                  <c:v>Fuel MoM %</c:v>
                </c:pt>
                <c:pt idx="2">
                  <c:v>General MoM %</c:v>
                </c:pt>
                <c:pt idx="3">
                  <c:v>Health MoM %</c:v>
                </c:pt>
                <c:pt idx="4">
                  <c:v>Transport MoM %</c:v>
                </c:pt>
              </c:strCache>
            </c:strRef>
          </c:cat>
          <c:val>
            <c:numRef>
              <c:f>Pivot!$E$23:$E$27</c:f>
              <c:numCache>
                <c:formatCode>0.00%</c:formatCode>
                <c:ptCount val="5"/>
                <c:pt idx="0">
                  <c:v>8.0777248932614627E-3</c:v>
                </c:pt>
                <c:pt idx="1">
                  <c:v>-1.9037620655442645E-3</c:v>
                </c:pt>
                <c:pt idx="2">
                  <c:v>4.1786793783983303E-3</c:v>
                </c:pt>
                <c:pt idx="3">
                  <c:v>1.318702229818651E-3</c:v>
                </c:pt>
                <c:pt idx="4">
                  <c:v>6.9576275008958856E-3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2-43D8-8213-05A2124573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91936048"/>
        <c:axId val="1986627184"/>
      </c:barChart>
      <c:catAx>
        <c:axId val="199193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6627184"/>
        <c:crosses val="autoZero"/>
        <c:auto val="1"/>
        <c:lblAlgn val="ctr"/>
        <c:lblOffset val="100"/>
        <c:noMultiLvlLbl val="0"/>
      </c:catAx>
      <c:valAx>
        <c:axId val="198662718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17365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19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582119767589299"/>
          <c:y val="1.4577264852836589E-2"/>
          <c:w val="0.31861622297796416"/>
          <c:h val="0.115957041798365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rgbClr val="17365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[All_India_Index_Upto_April23 (Akash).xlsx]Pivot!PivotTable16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Crude Oil Price Trend (Jan 2021 - April 2023)</a:t>
            </a:r>
          </a:p>
        </c:rich>
      </c:tx>
      <c:layout>
        <c:manualLayout>
          <c:xMode val="edge"/>
          <c:yMode val="edge"/>
          <c:x val="9.913804170490809E-3"/>
          <c:y val="1.43497690289801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015826261390145"/>
          <c:y val="0.15894909434815685"/>
          <c:w val="0.85948684809778919"/>
          <c:h val="0.65376072405154007"/>
        </c:manualLayout>
      </c:layout>
      <c:lineChart>
        <c:grouping val="standard"/>
        <c:varyColors val="0"/>
        <c:ser>
          <c:idx val="0"/>
          <c:order val="0"/>
          <c:tx>
            <c:strRef>
              <c:f>Pivot!$H$22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Pivot!$G$23:$G$50</c:f>
              <c:strCache>
                <c:ptCount val="28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</c:v>
                </c:pt>
                <c:pt idx="5">
                  <c:v>Jun-21</c:v>
                </c:pt>
                <c:pt idx="6">
                  <c:v>Jul-21</c:v>
                </c:pt>
                <c:pt idx="7">
                  <c:v>Aug-21</c:v>
                </c:pt>
                <c:pt idx="8">
                  <c:v>Sep-21</c:v>
                </c:pt>
                <c:pt idx="9">
                  <c:v>Oct-21</c:v>
                </c:pt>
                <c:pt idx="10">
                  <c:v>Nov-21</c:v>
                </c:pt>
                <c:pt idx="11">
                  <c:v>Dec-21</c:v>
                </c:pt>
                <c:pt idx="12">
                  <c:v>Jan-22</c:v>
                </c:pt>
                <c:pt idx="13">
                  <c:v>Feb-22</c:v>
                </c:pt>
                <c:pt idx="14">
                  <c:v>Mar-22</c:v>
                </c:pt>
                <c:pt idx="15">
                  <c:v>Apr-22</c:v>
                </c:pt>
                <c:pt idx="16">
                  <c:v>May-22</c:v>
                </c:pt>
                <c:pt idx="17">
                  <c:v>Jun-22</c:v>
                </c:pt>
                <c:pt idx="18">
                  <c:v>Jul-22</c:v>
                </c:pt>
                <c:pt idx="19">
                  <c:v>Aug-22</c:v>
                </c:pt>
                <c:pt idx="20">
                  <c:v>Sep-22</c:v>
                </c:pt>
                <c:pt idx="21">
                  <c:v>Oct-22</c:v>
                </c:pt>
                <c:pt idx="22">
                  <c:v>Nov-22</c:v>
                </c:pt>
                <c:pt idx="23">
                  <c:v>Dec-22</c:v>
                </c:pt>
                <c:pt idx="24">
                  <c:v>Jan-23</c:v>
                </c:pt>
                <c:pt idx="25">
                  <c:v>Feb-23</c:v>
                </c:pt>
                <c:pt idx="26">
                  <c:v>Mar-23</c:v>
                </c:pt>
                <c:pt idx="27">
                  <c:v>Apr-23</c:v>
                </c:pt>
              </c:strCache>
            </c:strRef>
          </c:cat>
          <c:val>
            <c:numRef>
              <c:f>Pivot!$H$23:$H$50</c:f>
              <c:numCache>
                <c:formatCode>0.00</c:formatCode>
                <c:ptCount val="28"/>
                <c:pt idx="0">
                  <c:v>54.79</c:v>
                </c:pt>
                <c:pt idx="1">
                  <c:v>61.22</c:v>
                </c:pt>
                <c:pt idx="2">
                  <c:v>64.73</c:v>
                </c:pt>
                <c:pt idx="3">
                  <c:v>63.4</c:v>
                </c:pt>
                <c:pt idx="4">
                  <c:v>66.95</c:v>
                </c:pt>
                <c:pt idx="5">
                  <c:v>71.98</c:v>
                </c:pt>
                <c:pt idx="6">
                  <c:v>73.540000000000006</c:v>
                </c:pt>
                <c:pt idx="7">
                  <c:v>69.8</c:v>
                </c:pt>
                <c:pt idx="8">
                  <c:v>73.13</c:v>
                </c:pt>
                <c:pt idx="9">
                  <c:v>82.11</c:v>
                </c:pt>
                <c:pt idx="10">
                  <c:v>80.64</c:v>
                </c:pt>
                <c:pt idx="11">
                  <c:v>73.3</c:v>
                </c:pt>
                <c:pt idx="12">
                  <c:v>84.67</c:v>
                </c:pt>
                <c:pt idx="13">
                  <c:v>94.07</c:v>
                </c:pt>
                <c:pt idx="14">
                  <c:v>112.87</c:v>
                </c:pt>
                <c:pt idx="15">
                  <c:v>102.97</c:v>
                </c:pt>
                <c:pt idx="16">
                  <c:v>109.51</c:v>
                </c:pt>
                <c:pt idx="17">
                  <c:v>116.01</c:v>
                </c:pt>
                <c:pt idx="18">
                  <c:v>105.49</c:v>
                </c:pt>
                <c:pt idx="19">
                  <c:v>97.4</c:v>
                </c:pt>
                <c:pt idx="20">
                  <c:v>90.71</c:v>
                </c:pt>
                <c:pt idx="21">
                  <c:v>91.7</c:v>
                </c:pt>
                <c:pt idx="22">
                  <c:v>87.55</c:v>
                </c:pt>
                <c:pt idx="23">
                  <c:v>78.099999999999994</c:v>
                </c:pt>
                <c:pt idx="24">
                  <c:v>80.92</c:v>
                </c:pt>
                <c:pt idx="25">
                  <c:v>82.28</c:v>
                </c:pt>
                <c:pt idx="26">
                  <c:v>78.540000000000006</c:v>
                </c:pt>
                <c:pt idx="27">
                  <c:v>83.76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89-4259-9111-743998A78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1939296"/>
        <c:axId val="1986601744"/>
      </c:lineChart>
      <c:catAx>
        <c:axId val="199193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6601744"/>
        <c:crosses val="autoZero"/>
        <c:auto val="1"/>
        <c:lblAlgn val="ctr"/>
        <c:lblOffset val="100"/>
        <c:noMultiLvlLbl val="0"/>
      </c:catAx>
      <c:valAx>
        <c:axId val="198660174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1939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[All_India_Index_Upto_April23 (Akash).xlsx]Pivot!PivotTable17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rgbClr val="17365D"/>
                </a:solidFill>
              </a:rPr>
              <a:t>Imported Oil vs Category Inflation (2021–2023)</a:t>
            </a:r>
          </a:p>
        </c:rich>
      </c:tx>
      <c:layout>
        <c:manualLayout>
          <c:xMode val="edge"/>
          <c:yMode val="edge"/>
          <c:x val="1.4367482216571975E-2"/>
          <c:y val="1.8960946346728349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3054253625438965E-2"/>
          <c:y val="0.1321466242843484"/>
          <c:w val="0.94547477390917578"/>
          <c:h val="0.73773620183682054"/>
        </c:manualLayout>
      </c:layout>
      <c:lineChart>
        <c:grouping val="standard"/>
        <c:varyColors val="0"/>
        <c:ser>
          <c:idx val="0"/>
          <c:order val="0"/>
          <c:tx>
            <c:strRef>
              <c:f>Pivot!$K$22</c:f>
              <c:strCache>
                <c:ptCount val="1"/>
                <c:pt idx="0">
                  <c:v> Oil MoM %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Pivot!$J$23:$J$50</c:f>
              <c:strCache>
                <c:ptCount val="28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</c:v>
                </c:pt>
                <c:pt idx="5">
                  <c:v>Jun-21</c:v>
                </c:pt>
                <c:pt idx="6">
                  <c:v>Jul-21</c:v>
                </c:pt>
                <c:pt idx="7">
                  <c:v>Aug-21</c:v>
                </c:pt>
                <c:pt idx="8">
                  <c:v>Sep-21</c:v>
                </c:pt>
                <c:pt idx="9">
                  <c:v>Oct-21</c:v>
                </c:pt>
                <c:pt idx="10">
                  <c:v>Nov-21</c:v>
                </c:pt>
                <c:pt idx="11">
                  <c:v>Dec-21</c:v>
                </c:pt>
                <c:pt idx="12">
                  <c:v>Jan-22</c:v>
                </c:pt>
                <c:pt idx="13">
                  <c:v>Feb-22</c:v>
                </c:pt>
                <c:pt idx="14">
                  <c:v>Mar-22</c:v>
                </c:pt>
                <c:pt idx="15">
                  <c:v>Apr-22</c:v>
                </c:pt>
                <c:pt idx="16">
                  <c:v>May-22</c:v>
                </c:pt>
                <c:pt idx="17">
                  <c:v>Jun-22</c:v>
                </c:pt>
                <c:pt idx="18">
                  <c:v>Jul-22</c:v>
                </c:pt>
                <c:pt idx="19">
                  <c:v>Aug-22</c:v>
                </c:pt>
                <c:pt idx="20">
                  <c:v>Sep-22</c:v>
                </c:pt>
                <c:pt idx="21">
                  <c:v>Oct-22</c:v>
                </c:pt>
                <c:pt idx="22">
                  <c:v>Nov-22</c:v>
                </c:pt>
                <c:pt idx="23">
                  <c:v>Dec-22</c:v>
                </c:pt>
                <c:pt idx="24">
                  <c:v>Jan-23</c:v>
                </c:pt>
                <c:pt idx="25">
                  <c:v>Feb-23</c:v>
                </c:pt>
                <c:pt idx="26">
                  <c:v>Mar-23</c:v>
                </c:pt>
                <c:pt idx="27">
                  <c:v>Apr-23</c:v>
                </c:pt>
              </c:strCache>
            </c:strRef>
          </c:cat>
          <c:val>
            <c:numRef>
              <c:f>Pivot!$K$23:$K$50</c:f>
              <c:numCache>
                <c:formatCode>0.00</c:formatCode>
                <c:ptCount val="28"/>
                <c:pt idx="1">
                  <c:v>0.11735718196751231</c:v>
                </c:pt>
                <c:pt idx="2">
                  <c:v>5.7334204508330697E-2</c:v>
                </c:pt>
                <c:pt idx="3">
                  <c:v>-2.0546887069365138E-2</c:v>
                </c:pt>
                <c:pt idx="4">
                  <c:v>5.5993690851735084E-2</c:v>
                </c:pt>
                <c:pt idx="5">
                  <c:v>7.5130694548170285E-2</c:v>
                </c:pt>
                <c:pt idx="6">
                  <c:v>2.1672686857460436E-2</c:v>
                </c:pt>
                <c:pt idx="7">
                  <c:v>-5.0856676638564163E-2</c:v>
                </c:pt>
                <c:pt idx="8">
                  <c:v>4.7707736389684792E-2</c:v>
                </c:pt>
                <c:pt idx="9">
                  <c:v>0.12279502256255989</c:v>
                </c:pt>
                <c:pt idx="10">
                  <c:v>-1.7902813299232722E-2</c:v>
                </c:pt>
                <c:pt idx="11">
                  <c:v>-9.1021825396825434E-2</c:v>
                </c:pt>
                <c:pt idx="12">
                  <c:v>0.15511596180081863</c:v>
                </c:pt>
                <c:pt idx="13">
                  <c:v>0.11101925121058216</c:v>
                </c:pt>
                <c:pt idx="14">
                  <c:v>0.19985117465717034</c:v>
                </c:pt>
                <c:pt idx="15">
                  <c:v>-8.7711526534951761E-2</c:v>
                </c:pt>
                <c:pt idx="16">
                  <c:v>6.3513644750898379E-2</c:v>
                </c:pt>
                <c:pt idx="17">
                  <c:v>5.9355310017350012E-2</c:v>
                </c:pt>
                <c:pt idx="18">
                  <c:v>-9.0681837772605897E-2</c:v>
                </c:pt>
                <c:pt idx="19">
                  <c:v>-7.6689733624040093E-2</c:v>
                </c:pt>
                <c:pt idx="20">
                  <c:v>-6.8685831622176716E-2</c:v>
                </c:pt>
                <c:pt idx="21">
                  <c:v>1.0913901444162818E-2</c:v>
                </c:pt>
                <c:pt idx="22">
                  <c:v>-4.5256270447110204E-2</c:v>
                </c:pt>
                <c:pt idx="23">
                  <c:v>-0.10793832095945177</c:v>
                </c:pt>
                <c:pt idx="24">
                  <c:v>3.6107554417413666E-2</c:v>
                </c:pt>
                <c:pt idx="25">
                  <c:v>1.6806722689075623E-2</c:v>
                </c:pt>
                <c:pt idx="26">
                  <c:v>-4.5454545454545393E-2</c:v>
                </c:pt>
                <c:pt idx="27">
                  <c:v>6.6462948815889974E-2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9A-4C58-9A20-09ADE347BCB2}"/>
            </c:ext>
          </c:extLst>
        </c:ser>
        <c:ser>
          <c:idx val="1"/>
          <c:order val="1"/>
          <c:tx>
            <c:strRef>
              <c:f>Pivot!$L$22</c:f>
              <c:strCache>
                <c:ptCount val="1"/>
                <c:pt idx="0">
                  <c:v> Food MoM %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Pivot!$J$23:$J$50</c:f>
              <c:strCache>
                <c:ptCount val="28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</c:v>
                </c:pt>
                <c:pt idx="5">
                  <c:v>Jun-21</c:v>
                </c:pt>
                <c:pt idx="6">
                  <c:v>Jul-21</c:v>
                </c:pt>
                <c:pt idx="7">
                  <c:v>Aug-21</c:v>
                </c:pt>
                <c:pt idx="8">
                  <c:v>Sep-21</c:v>
                </c:pt>
                <c:pt idx="9">
                  <c:v>Oct-21</c:v>
                </c:pt>
                <c:pt idx="10">
                  <c:v>Nov-21</c:v>
                </c:pt>
                <c:pt idx="11">
                  <c:v>Dec-21</c:v>
                </c:pt>
                <c:pt idx="12">
                  <c:v>Jan-22</c:v>
                </c:pt>
                <c:pt idx="13">
                  <c:v>Feb-22</c:v>
                </c:pt>
                <c:pt idx="14">
                  <c:v>Mar-22</c:v>
                </c:pt>
                <c:pt idx="15">
                  <c:v>Apr-22</c:v>
                </c:pt>
                <c:pt idx="16">
                  <c:v>May-22</c:v>
                </c:pt>
                <c:pt idx="17">
                  <c:v>Jun-22</c:v>
                </c:pt>
                <c:pt idx="18">
                  <c:v>Jul-22</c:v>
                </c:pt>
                <c:pt idx="19">
                  <c:v>Aug-22</c:v>
                </c:pt>
                <c:pt idx="20">
                  <c:v>Sep-22</c:v>
                </c:pt>
                <c:pt idx="21">
                  <c:v>Oct-22</c:v>
                </c:pt>
                <c:pt idx="22">
                  <c:v>Nov-22</c:v>
                </c:pt>
                <c:pt idx="23">
                  <c:v>Dec-22</c:v>
                </c:pt>
                <c:pt idx="24">
                  <c:v>Jan-23</c:v>
                </c:pt>
                <c:pt idx="25">
                  <c:v>Feb-23</c:v>
                </c:pt>
                <c:pt idx="26">
                  <c:v>Mar-23</c:v>
                </c:pt>
                <c:pt idx="27">
                  <c:v>Apr-23</c:v>
                </c:pt>
              </c:strCache>
            </c:strRef>
          </c:cat>
          <c:val>
            <c:numRef>
              <c:f>Pivot!$L$23:$L$50</c:f>
              <c:numCache>
                <c:formatCode>0.00</c:formatCode>
                <c:ptCount val="28"/>
                <c:pt idx="1">
                  <c:v>-2.5465838509316736E-2</c:v>
                </c:pt>
                <c:pt idx="2">
                  <c:v>-1.2746972594010009E-3</c:v>
                </c:pt>
                <c:pt idx="3">
                  <c:v>8.2961072112317253E-3</c:v>
                </c:pt>
                <c:pt idx="4">
                  <c:v>1.7088607594936637E-2</c:v>
                </c:pt>
                <c:pt idx="5">
                  <c:v>1.1823273179838244E-2</c:v>
                </c:pt>
                <c:pt idx="6">
                  <c:v>8.6100861008610446E-3</c:v>
                </c:pt>
                <c:pt idx="7">
                  <c:v>0</c:v>
                </c:pt>
                <c:pt idx="8">
                  <c:v>0</c:v>
                </c:pt>
                <c:pt idx="9">
                  <c:v>2.2560975609756027E-2</c:v>
                </c:pt>
                <c:pt idx="10">
                  <c:v>1.1926058437686345E-2</c:v>
                </c:pt>
                <c:pt idx="11">
                  <c:v>-8.8391278727165592E-3</c:v>
                </c:pt>
                <c:pt idx="12">
                  <c:v>-1.070154577883462E-2</c:v>
                </c:pt>
                <c:pt idx="13">
                  <c:v>-1.2019230769231793E-3</c:v>
                </c:pt>
                <c:pt idx="14">
                  <c:v>1.3237063778580128E-2</c:v>
                </c:pt>
                <c:pt idx="15">
                  <c:v>1.4251781472684119E-2</c:v>
                </c:pt>
                <c:pt idx="16">
                  <c:v>1.4637002341920374E-2</c:v>
                </c:pt>
                <c:pt idx="17">
                  <c:v>9.2325447201384546E-3</c:v>
                </c:pt>
                <c:pt idx="18">
                  <c:v>5.7175528873638828E-4</c:v>
                </c:pt>
                <c:pt idx="19">
                  <c:v>7.4285714285714935E-3</c:v>
                </c:pt>
                <c:pt idx="20">
                  <c:v>8.5082246171298923E-3</c:v>
                </c:pt>
                <c:pt idx="21">
                  <c:v>1.0123734533183255E-2</c:v>
                </c:pt>
                <c:pt idx="22">
                  <c:v>-7.2383073496658295E-3</c:v>
                </c:pt>
                <c:pt idx="23">
                  <c:v>-1.3460459899046581E-2</c:v>
                </c:pt>
                <c:pt idx="24">
                  <c:v>4.5480386583284984E-3</c:v>
                </c:pt>
                <c:pt idx="25">
                  <c:v>1.6977928692700134E-3</c:v>
                </c:pt>
                <c:pt idx="26">
                  <c:v>0</c:v>
                </c:pt>
                <c:pt idx="27">
                  <c:v>5.0847457627118961E-3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9A-4C58-9A20-09ADE347BCB2}"/>
            </c:ext>
          </c:extLst>
        </c:ser>
        <c:ser>
          <c:idx val="2"/>
          <c:order val="2"/>
          <c:tx>
            <c:strRef>
              <c:f>Pivot!$M$22</c:f>
              <c:strCache>
                <c:ptCount val="1"/>
                <c:pt idx="0">
                  <c:v> Health MoM %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Pivot!$J$23:$J$50</c:f>
              <c:strCache>
                <c:ptCount val="28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</c:v>
                </c:pt>
                <c:pt idx="5">
                  <c:v>Jun-21</c:v>
                </c:pt>
                <c:pt idx="6">
                  <c:v>Jul-21</c:v>
                </c:pt>
                <c:pt idx="7">
                  <c:v>Aug-21</c:v>
                </c:pt>
                <c:pt idx="8">
                  <c:v>Sep-21</c:v>
                </c:pt>
                <c:pt idx="9">
                  <c:v>Oct-21</c:v>
                </c:pt>
                <c:pt idx="10">
                  <c:v>Nov-21</c:v>
                </c:pt>
                <c:pt idx="11">
                  <c:v>Dec-21</c:v>
                </c:pt>
                <c:pt idx="12">
                  <c:v>Jan-22</c:v>
                </c:pt>
                <c:pt idx="13">
                  <c:v>Feb-22</c:v>
                </c:pt>
                <c:pt idx="14">
                  <c:v>Mar-22</c:v>
                </c:pt>
                <c:pt idx="15">
                  <c:v>Apr-22</c:v>
                </c:pt>
                <c:pt idx="16">
                  <c:v>May-22</c:v>
                </c:pt>
                <c:pt idx="17">
                  <c:v>Jun-22</c:v>
                </c:pt>
                <c:pt idx="18">
                  <c:v>Jul-22</c:v>
                </c:pt>
                <c:pt idx="19">
                  <c:v>Aug-22</c:v>
                </c:pt>
                <c:pt idx="20">
                  <c:v>Sep-22</c:v>
                </c:pt>
                <c:pt idx="21">
                  <c:v>Oct-22</c:v>
                </c:pt>
                <c:pt idx="22">
                  <c:v>Nov-22</c:v>
                </c:pt>
                <c:pt idx="23">
                  <c:v>Dec-22</c:v>
                </c:pt>
                <c:pt idx="24">
                  <c:v>Jan-23</c:v>
                </c:pt>
                <c:pt idx="25">
                  <c:v>Feb-23</c:v>
                </c:pt>
                <c:pt idx="26">
                  <c:v>Mar-23</c:v>
                </c:pt>
                <c:pt idx="27">
                  <c:v>Apr-23</c:v>
                </c:pt>
              </c:strCache>
            </c:strRef>
          </c:cat>
          <c:val>
            <c:numRef>
              <c:f>Pivot!$M$23:$M$50</c:f>
              <c:numCache>
                <c:formatCode>0.00</c:formatCode>
                <c:ptCount val="28"/>
                <c:pt idx="1">
                  <c:v>1.2554927809165096E-2</c:v>
                </c:pt>
                <c:pt idx="2">
                  <c:v>2.4798512089273233E-3</c:v>
                </c:pt>
                <c:pt idx="3">
                  <c:v>3.7105751391467087E-3</c:v>
                </c:pt>
                <c:pt idx="4">
                  <c:v>2.1565003080714726E-2</c:v>
                </c:pt>
                <c:pt idx="5">
                  <c:v>3.0156815440289505E-3</c:v>
                </c:pt>
                <c:pt idx="6">
                  <c:v>4.2092603728201361E-3</c:v>
                </c:pt>
                <c:pt idx="7">
                  <c:v>8.3832335329341659E-3</c:v>
                </c:pt>
                <c:pt idx="8">
                  <c:v>0</c:v>
                </c:pt>
                <c:pt idx="9">
                  <c:v>4.1567695961994573E-3</c:v>
                </c:pt>
                <c:pt idx="10">
                  <c:v>4.730928444707341E-3</c:v>
                </c:pt>
                <c:pt idx="11">
                  <c:v>4.1200706297821578E-3</c:v>
                </c:pt>
                <c:pt idx="12">
                  <c:v>4.6893317702228097E-3</c:v>
                </c:pt>
                <c:pt idx="13">
                  <c:v>4.6674445740955833E-3</c:v>
                </c:pt>
                <c:pt idx="14">
                  <c:v>4.6457607433217848E-3</c:v>
                </c:pt>
                <c:pt idx="15">
                  <c:v>5.7803468208092483E-3</c:v>
                </c:pt>
                <c:pt idx="16">
                  <c:v>4.5977011494253523E-3</c:v>
                </c:pt>
                <c:pt idx="17">
                  <c:v>3.4324942791761686E-3</c:v>
                </c:pt>
                <c:pt idx="18">
                  <c:v>3.9908779931584299E-3</c:v>
                </c:pt>
                <c:pt idx="19">
                  <c:v>3.9750141964793699E-3</c:v>
                </c:pt>
                <c:pt idx="20">
                  <c:v>5.6561085972850677E-3</c:v>
                </c:pt>
                <c:pt idx="21">
                  <c:v>5.0618672665915477E-3</c:v>
                </c:pt>
                <c:pt idx="22">
                  <c:v>6.1555679910465745E-3</c:v>
                </c:pt>
                <c:pt idx="23">
                  <c:v>7.2302558398219295E-3</c:v>
                </c:pt>
                <c:pt idx="24">
                  <c:v>6.6261733848703317E-3</c:v>
                </c:pt>
                <c:pt idx="25">
                  <c:v>1.1519473395501889E-2</c:v>
                </c:pt>
                <c:pt idx="26">
                  <c:v>0</c:v>
                </c:pt>
                <c:pt idx="27">
                  <c:v>3.2537960954446546E-3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79A-4C58-9A20-09ADE347BCB2}"/>
            </c:ext>
          </c:extLst>
        </c:ser>
        <c:ser>
          <c:idx val="3"/>
          <c:order val="3"/>
          <c:tx>
            <c:strRef>
              <c:f>Pivot!$N$22</c:f>
              <c:strCache>
                <c:ptCount val="1"/>
                <c:pt idx="0">
                  <c:v> Fuel MoM %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Pivot!$J$23:$J$50</c:f>
              <c:strCache>
                <c:ptCount val="28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</c:v>
                </c:pt>
                <c:pt idx="5">
                  <c:v>Jun-21</c:v>
                </c:pt>
                <c:pt idx="6">
                  <c:v>Jul-21</c:v>
                </c:pt>
                <c:pt idx="7">
                  <c:v>Aug-21</c:v>
                </c:pt>
                <c:pt idx="8">
                  <c:v>Sep-21</c:v>
                </c:pt>
                <c:pt idx="9">
                  <c:v>Oct-21</c:v>
                </c:pt>
                <c:pt idx="10">
                  <c:v>Nov-21</c:v>
                </c:pt>
                <c:pt idx="11">
                  <c:v>Dec-21</c:v>
                </c:pt>
                <c:pt idx="12">
                  <c:v>Jan-22</c:v>
                </c:pt>
                <c:pt idx="13">
                  <c:v>Feb-22</c:v>
                </c:pt>
                <c:pt idx="14">
                  <c:v>Mar-22</c:v>
                </c:pt>
                <c:pt idx="15">
                  <c:v>Apr-22</c:v>
                </c:pt>
                <c:pt idx="16">
                  <c:v>May-22</c:v>
                </c:pt>
                <c:pt idx="17">
                  <c:v>Jun-22</c:v>
                </c:pt>
                <c:pt idx="18">
                  <c:v>Jul-22</c:v>
                </c:pt>
                <c:pt idx="19">
                  <c:v>Aug-22</c:v>
                </c:pt>
                <c:pt idx="20">
                  <c:v>Sep-22</c:v>
                </c:pt>
                <c:pt idx="21">
                  <c:v>Oct-22</c:v>
                </c:pt>
                <c:pt idx="22">
                  <c:v>Nov-22</c:v>
                </c:pt>
                <c:pt idx="23">
                  <c:v>Dec-22</c:v>
                </c:pt>
                <c:pt idx="24">
                  <c:v>Jan-23</c:v>
                </c:pt>
                <c:pt idx="25">
                  <c:v>Feb-23</c:v>
                </c:pt>
                <c:pt idx="26">
                  <c:v>Mar-23</c:v>
                </c:pt>
                <c:pt idx="27">
                  <c:v>Apr-23</c:v>
                </c:pt>
              </c:strCache>
            </c:strRef>
          </c:cat>
          <c:val>
            <c:numRef>
              <c:f>Pivot!$N$23:$N$50</c:f>
              <c:numCache>
                <c:formatCode>0.00</c:formatCode>
                <c:ptCount val="28"/>
                <c:pt idx="1">
                  <c:v>3.0425963488843813E-2</c:v>
                </c:pt>
                <c:pt idx="2">
                  <c:v>2.0341207349081326E-2</c:v>
                </c:pt>
                <c:pt idx="3">
                  <c:v>6.4308681672022071E-4</c:v>
                </c:pt>
                <c:pt idx="4">
                  <c:v>2.4421593830334265E-2</c:v>
                </c:pt>
                <c:pt idx="5">
                  <c:v>2.5094102885822186E-3</c:v>
                </c:pt>
                <c:pt idx="6">
                  <c:v>5.6320400500624356E-3</c:v>
                </c:pt>
                <c:pt idx="7">
                  <c:v>1.1823273179838244E-2</c:v>
                </c:pt>
                <c:pt idx="8">
                  <c:v>0</c:v>
                </c:pt>
                <c:pt idx="9">
                  <c:v>9.8400984009839754E-3</c:v>
                </c:pt>
                <c:pt idx="10">
                  <c:v>-1.8270401948841837E-3</c:v>
                </c:pt>
                <c:pt idx="11">
                  <c:v>1.2202562538132314E-3</c:v>
                </c:pt>
                <c:pt idx="12">
                  <c:v>6.0938452163311586E-4</c:v>
                </c:pt>
                <c:pt idx="13">
                  <c:v>9.1352009744214372E-3</c:v>
                </c:pt>
                <c:pt idx="14">
                  <c:v>9.0525045262522634E-3</c:v>
                </c:pt>
                <c:pt idx="15">
                  <c:v>2.9904306220095697E-2</c:v>
                </c:pt>
                <c:pt idx="16">
                  <c:v>1.3937282229965191E-2</c:v>
                </c:pt>
                <c:pt idx="17">
                  <c:v>8.0183276059565042E-3</c:v>
                </c:pt>
                <c:pt idx="18">
                  <c:v>2.0454545454545423E-2</c:v>
                </c:pt>
                <c:pt idx="19">
                  <c:v>-4.4543429844097048E-3</c:v>
                </c:pt>
                <c:pt idx="20">
                  <c:v>3.9149888143176093E-3</c:v>
                </c:pt>
                <c:pt idx="21">
                  <c:v>5.5710306406685237E-3</c:v>
                </c:pt>
                <c:pt idx="22">
                  <c:v>4.4321329639889825E-3</c:v>
                </c:pt>
                <c:pt idx="23">
                  <c:v>3.8610038610037982E-3</c:v>
                </c:pt>
                <c:pt idx="24">
                  <c:v>0</c:v>
                </c:pt>
                <c:pt idx="25">
                  <c:v>5.4945054945051823E-4</c:v>
                </c:pt>
                <c:pt idx="26">
                  <c:v>-1.0982976386600144E-3</c:v>
                </c:pt>
                <c:pt idx="27">
                  <c:v>-1.0995052226499013E-3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79A-4C58-9A20-09ADE347BCB2}"/>
            </c:ext>
          </c:extLst>
        </c:ser>
        <c:ser>
          <c:idx val="4"/>
          <c:order val="4"/>
          <c:tx>
            <c:strRef>
              <c:f>Pivot!$O$22</c:f>
              <c:strCache>
                <c:ptCount val="1"/>
                <c:pt idx="0">
                  <c:v> Transport MoM %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5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Pivot!$J$23:$J$50</c:f>
              <c:strCache>
                <c:ptCount val="28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</c:v>
                </c:pt>
                <c:pt idx="5">
                  <c:v>Jun-21</c:v>
                </c:pt>
                <c:pt idx="6">
                  <c:v>Jul-21</c:v>
                </c:pt>
                <c:pt idx="7">
                  <c:v>Aug-21</c:v>
                </c:pt>
                <c:pt idx="8">
                  <c:v>Sep-21</c:v>
                </c:pt>
                <c:pt idx="9">
                  <c:v>Oct-21</c:v>
                </c:pt>
                <c:pt idx="10">
                  <c:v>Nov-21</c:v>
                </c:pt>
                <c:pt idx="11">
                  <c:v>Dec-21</c:v>
                </c:pt>
                <c:pt idx="12">
                  <c:v>Jan-22</c:v>
                </c:pt>
                <c:pt idx="13">
                  <c:v>Feb-22</c:v>
                </c:pt>
                <c:pt idx="14">
                  <c:v>Mar-22</c:v>
                </c:pt>
                <c:pt idx="15">
                  <c:v>Apr-22</c:v>
                </c:pt>
                <c:pt idx="16">
                  <c:v>May-22</c:v>
                </c:pt>
                <c:pt idx="17">
                  <c:v>Jun-22</c:v>
                </c:pt>
                <c:pt idx="18">
                  <c:v>Jul-22</c:v>
                </c:pt>
                <c:pt idx="19">
                  <c:v>Aug-22</c:v>
                </c:pt>
                <c:pt idx="20">
                  <c:v>Sep-22</c:v>
                </c:pt>
                <c:pt idx="21">
                  <c:v>Oct-22</c:v>
                </c:pt>
                <c:pt idx="22">
                  <c:v>Nov-22</c:v>
                </c:pt>
                <c:pt idx="23">
                  <c:v>Dec-22</c:v>
                </c:pt>
                <c:pt idx="24">
                  <c:v>Jan-23</c:v>
                </c:pt>
                <c:pt idx="25">
                  <c:v>Feb-23</c:v>
                </c:pt>
                <c:pt idx="26">
                  <c:v>Mar-23</c:v>
                </c:pt>
                <c:pt idx="27">
                  <c:v>Apr-23</c:v>
                </c:pt>
              </c:strCache>
            </c:strRef>
          </c:cat>
          <c:val>
            <c:numRef>
              <c:f>Pivot!$O$23:$O$50</c:f>
              <c:numCache>
                <c:formatCode>0.00</c:formatCode>
                <c:ptCount val="28"/>
                <c:pt idx="1">
                  <c:v>2.2551092318534097E-2</c:v>
                </c:pt>
                <c:pt idx="2">
                  <c:v>7.5809786354238068E-3</c:v>
                </c:pt>
                <c:pt idx="3">
                  <c:v>2.7359781121751416E-3</c:v>
                </c:pt>
                <c:pt idx="4">
                  <c:v>1.568894952251031E-2</c:v>
                </c:pt>
                <c:pt idx="5">
                  <c:v>1.2088650100738636E-2</c:v>
                </c:pt>
                <c:pt idx="6">
                  <c:v>1.5925680159256841E-2</c:v>
                </c:pt>
                <c:pt idx="7">
                  <c:v>5.8785107772697954E-3</c:v>
                </c:pt>
                <c:pt idx="8">
                  <c:v>0</c:v>
                </c:pt>
                <c:pt idx="9">
                  <c:v>1.1038961038960965E-2</c:v>
                </c:pt>
                <c:pt idx="10">
                  <c:v>-5.7803468208091026E-3</c:v>
                </c:pt>
                <c:pt idx="11">
                  <c:v>5.8139534883719455E-3</c:v>
                </c:pt>
                <c:pt idx="12">
                  <c:v>5.1380860629416276E-3</c:v>
                </c:pt>
                <c:pt idx="13">
                  <c:v>2.5559105431310269E-3</c:v>
                </c:pt>
                <c:pt idx="14">
                  <c:v>6.3734862970044612E-3</c:v>
                </c:pt>
                <c:pt idx="15">
                  <c:v>2.9765674477517344E-2</c:v>
                </c:pt>
                <c:pt idx="16">
                  <c:v>2.4600246002460377E-3</c:v>
                </c:pt>
                <c:pt idx="17">
                  <c:v>-1.1656441717791446E-2</c:v>
                </c:pt>
                <c:pt idx="18">
                  <c:v>3.1036623215394167E-3</c:v>
                </c:pt>
                <c:pt idx="19">
                  <c:v>1.8564356435644268E-3</c:v>
                </c:pt>
                <c:pt idx="20">
                  <c:v>2.470660901791264E-3</c:v>
                </c:pt>
                <c:pt idx="21">
                  <c:v>3.6968576709796321E-3</c:v>
                </c:pt>
                <c:pt idx="22">
                  <c:v>6.1387354205030267E-4</c:v>
                </c:pt>
                <c:pt idx="23">
                  <c:v>2.4539877300613845E-3</c:v>
                </c:pt>
                <c:pt idx="24">
                  <c:v>1.2239902080782657E-3</c:v>
                </c:pt>
                <c:pt idx="25">
                  <c:v>3.6674816625916523E-3</c:v>
                </c:pt>
                <c:pt idx="26">
                  <c:v>0</c:v>
                </c:pt>
                <c:pt idx="27">
                  <c:v>1.8270401948843567E-3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79A-4C58-9A20-09ADE347BCB2}"/>
            </c:ext>
          </c:extLst>
        </c:ser>
        <c:ser>
          <c:idx val="5"/>
          <c:order val="5"/>
          <c:tx>
            <c:strRef>
              <c:f>Pivot!$P$22</c:f>
              <c:strCache>
                <c:ptCount val="1"/>
                <c:pt idx="0">
                  <c:v> General MoM %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6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Pivot!$J$23:$J$50</c:f>
              <c:strCache>
                <c:ptCount val="28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</c:v>
                </c:pt>
                <c:pt idx="5">
                  <c:v>Jun-21</c:v>
                </c:pt>
                <c:pt idx="6">
                  <c:v>Jul-21</c:v>
                </c:pt>
                <c:pt idx="7">
                  <c:v>Aug-21</c:v>
                </c:pt>
                <c:pt idx="8">
                  <c:v>Sep-21</c:v>
                </c:pt>
                <c:pt idx="9">
                  <c:v>Oct-21</c:v>
                </c:pt>
                <c:pt idx="10">
                  <c:v>Nov-21</c:v>
                </c:pt>
                <c:pt idx="11">
                  <c:v>Dec-21</c:v>
                </c:pt>
                <c:pt idx="12">
                  <c:v>Jan-22</c:v>
                </c:pt>
                <c:pt idx="13">
                  <c:v>Feb-22</c:v>
                </c:pt>
                <c:pt idx="14">
                  <c:v>Mar-22</c:v>
                </c:pt>
                <c:pt idx="15">
                  <c:v>Apr-22</c:v>
                </c:pt>
                <c:pt idx="16">
                  <c:v>May-22</c:v>
                </c:pt>
                <c:pt idx="17">
                  <c:v>Jun-22</c:v>
                </c:pt>
                <c:pt idx="18">
                  <c:v>Jul-22</c:v>
                </c:pt>
                <c:pt idx="19">
                  <c:v>Aug-22</c:v>
                </c:pt>
                <c:pt idx="20">
                  <c:v>Sep-22</c:v>
                </c:pt>
                <c:pt idx="21">
                  <c:v>Oct-22</c:v>
                </c:pt>
                <c:pt idx="22">
                  <c:v>Nov-22</c:v>
                </c:pt>
                <c:pt idx="23">
                  <c:v>Dec-22</c:v>
                </c:pt>
                <c:pt idx="24">
                  <c:v>Jan-23</c:v>
                </c:pt>
                <c:pt idx="25">
                  <c:v>Feb-23</c:v>
                </c:pt>
                <c:pt idx="26">
                  <c:v>Mar-23</c:v>
                </c:pt>
                <c:pt idx="27">
                  <c:v>Apr-23</c:v>
                </c:pt>
              </c:strCache>
            </c:strRef>
          </c:cat>
          <c:val>
            <c:numRef>
              <c:f>Pivot!$P$23:$P$50</c:f>
              <c:numCache>
                <c:formatCode>0.00</c:formatCode>
                <c:ptCount val="28"/>
                <c:pt idx="1">
                  <c:v>-4.4500953591863762E-3</c:v>
                </c:pt>
                <c:pt idx="2">
                  <c:v>1.2771392081737999E-3</c:v>
                </c:pt>
                <c:pt idx="3">
                  <c:v>6.3775510204081625E-3</c:v>
                </c:pt>
                <c:pt idx="4">
                  <c:v>1.6476552598225565E-2</c:v>
                </c:pt>
                <c:pt idx="5">
                  <c:v>5.6109725685785893E-3</c:v>
                </c:pt>
                <c:pt idx="6">
                  <c:v>7.439553626782322E-3</c:v>
                </c:pt>
                <c:pt idx="7">
                  <c:v>4.3076923076922381E-3</c:v>
                </c:pt>
                <c:pt idx="8">
                  <c:v>0</c:v>
                </c:pt>
                <c:pt idx="9">
                  <c:v>1.4093137254902032E-2</c:v>
                </c:pt>
                <c:pt idx="10">
                  <c:v>7.2507552870089949E-3</c:v>
                </c:pt>
                <c:pt idx="11">
                  <c:v>-2.999400119976005E-3</c:v>
                </c:pt>
                <c:pt idx="12">
                  <c:v>-3.0084235860409147E-3</c:v>
                </c:pt>
                <c:pt idx="13">
                  <c:v>2.4140012070006378E-3</c:v>
                </c:pt>
                <c:pt idx="14">
                  <c:v>9.6327513546056245E-3</c:v>
                </c:pt>
                <c:pt idx="15">
                  <c:v>1.4311270125223648E-2</c:v>
                </c:pt>
                <c:pt idx="16">
                  <c:v>9.4062316284538178E-3</c:v>
                </c:pt>
                <c:pt idx="17">
                  <c:v>5.2417006406523343E-3</c:v>
                </c:pt>
                <c:pt idx="18">
                  <c:v>4.634994206257308E-3</c:v>
                </c:pt>
                <c:pt idx="19">
                  <c:v>5.1903114186851538E-3</c:v>
                </c:pt>
                <c:pt idx="20">
                  <c:v>5.737234652897303E-3</c:v>
                </c:pt>
                <c:pt idx="21">
                  <c:v>7.9863091842554308E-3</c:v>
                </c:pt>
                <c:pt idx="22">
                  <c:v>-1.1318619128465684E-3</c:v>
                </c:pt>
                <c:pt idx="23">
                  <c:v>-4.5325779036827843E-3</c:v>
                </c:pt>
                <c:pt idx="24">
                  <c:v>4.5532157085942599E-3</c:v>
                </c:pt>
                <c:pt idx="25">
                  <c:v>3.9660056657223148E-3</c:v>
                </c:pt>
                <c:pt idx="26">
                  <c:v>0</c:v>
                </c:pt>
                <c:pt idx="27">
                  <c:v>5.0790067720090613E-3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79A-4C58-9A20-09ADE347B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4911504"/>
        <c:axId val="1986639664"/>
      </c:lineChart>
      <c:catAx>
        <c:axId val="1984911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6639664"/>
        <c:crosses val="autoZero"/>
        <c:auto val="1"/>
        <c:lblAlgn val="ctr"/>
        <c:lblOffset val="700"/>
        <c:tickLblSkip val="1"/>
        <c:noMultiLvlLbl val="0"/>
      </c:catAx>
      <c:valAx>
        <c:axId val="198663966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4911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17365D"/>
                </a:solidFill>
              </a:rPr>
              <a:t>Correlation with Oil</a:t>
            </a:r>
          </a:p>
        </c:rich>
      </c:tx>
      <c:layout>
        <c:manualLayout>
          <c:xMode val="edge"/>
          <c:yMode val="edge"/>
          <c:x val="2.8408132651147833E-2"/>
          <c:y val="2.41528361039890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'07_Q5_Imported_Oil_Analysis'!$X$2</c:f>
              <c:strCache>
                <c:ptCount val="1"/>
                <c:pt idx="0">
                  <c:v>Correlation with Oil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'07_Q5_Imported_Oil_Analysis'!$W$3:$W$7</c:f>
              <c:strCache>
                <c:ptCount val="5"/>
                <c:pt idx="0">
                  <c:v>Food</c:v>
                </c:pt>
                <c:pt idx="1">
                  <c:v>Health</c:v>
                </c:pt>
                <c:pt idx="2">
                  <c:v>Fuel</c:v>
                </c:pt>
                <c:pt idx="3">
                  <c:v>Transport</c:v>
                </c:pt>
                <c:pt idx="4">
                  <c:v>General</c:v>
                </c:pt>
              </c:strCache>
            </c:strRef>
          </c:cat>
          <c:val>
            <c:numRef>
              <c:f>'07_Q5_Imported_Oil_Analysis'!$X$3:$X$7</c:f>
              <c:numCache>
                <c:formatCode>0.00</c:formatCode>
                <c:ptCount val="5"/>
                <c:pt idx="0">
                  <c:v>0.1115318257503831</c:v>
                </c:pt>
                <c:pt idx="1">
                  <c:v>6.4229883038590896E-2</c:v>
                </c:pt>
                <c:pt idx="2">
                  <c:v>0.10884695931099583</c:v>
                </c:pt>
                <c:pt idx="3">
                  <c:v>8.6437368542903348E-2</c:v>
                </c:pt>
                <c:pt idx="4">
                  <c:v>0.13293837927925797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E7-4539-8297-A0D58C7A98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956298016"/>
        <c:axId val="947457040"/>
      </c:barChart>
      <c:catAx>
        <c:axId val="9562980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7457040"/>
        <c:crosses val="autoZero"/>
        <c:auto val="1"/>
        <c:lblAlgn val="ctr"/>
        <c:lblOffset val="100"/>
        <c:noMultiLvlLbl val="0"/>
      </c:catAx>
      <c:valAx>
        <c:axId val="947457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298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FFC583-440C-4C11-501D-9F40658AA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t>India CPI | 2017–2023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23A63"/>
                </a:solidFill>
              </a:defRPr>
            </a:pPr>
            <a:r>
              <a:t>177.57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Latest CPI Index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64008" cy="114300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34640" y="9601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23A63"/>
                </a:solidFill>
              </a:defRPr>
            </a:pPr>
            <a:r>
              <a:t>4.9%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Average YoY Inflation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960120"/>
            <a:ext cx="64008" cy="1143000"/>
          </a:xfrm>
          <a:prstGeom prst="rect">
            <a:avLst/>
          </a:prstGeom>
          <a:solidFill>
            <a:srgbClr val="37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74920" y="9601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23A63"/>
                </a:solidFill>
              </a:defRPr>
            </a:pPr>
            <a:r>
              <a:t>20.0%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Highest Monthly Inflation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960120"/>
            <a:ext cx="64008" cy="1143000"/>
          </a:xfrm>
          <a:prstGeom prst="rect">
            <a:avLst/>
          </a:prstGeom>
          <a:solidFill>
            <a:srgbClr val="B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0" y="9601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23A63"/>
                </a:solidFill>
              </a:defRPr>
            </a:pPr>
            <a:r>
              <a:t>-10.8%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Lowest Monthly Inflation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960120"/>
            <a:ext cx="64008" cy="1143000"/>
          </a:xfrm>
          <a:prstGeom prst="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55480" y="9601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23A63"/>
                </a:solidFill>
              </a:defRPr>
            </a:pPr>
            <a:r>
              <a:t>9.31%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Top Contribution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960120"/>
            <a:ext cx="64008" cy="1143000"/>
          </a:xfrm>
          <a:prstGeom prst="rect">
            <a:avLst/>
          </a:prstGeom>
          <a:solidFill>
            <a:srgbClr val="E1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" y="2423160"/>
            <a:ext cx="5486400" cy="33832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t>Key findings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CPI increased steadily from 2017 to 2023, reaching 177.57 in 2023.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Annual YoY inflation peaked at 7.7% in 2019 in the dashboard trend.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Pan, Tobacco &amp; Intoxicants had the highest contribution share at 9.31%.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Food MoM inflation peaked at +0.97% in Oct-22 and fell to -1.36% in Dec-22.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212080" cy="338328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t>Analytical takeaway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Imported oil rose +20.0% in Mar-22 and fell -10.8% in Dec-22.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General CPI had the strongest tested oil correlation, but only 0.13.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COVID impact differed by category rather than moving uniformly.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Monitoring food, fuel, transport and external energy shocks together is useful.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3848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CPI Trend &amp; Inflation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t>Annual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6576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t>Analytical read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General CPI increased every year from 2017 through 2023.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The annual index moved from 133.50 in 2017 to 177.62 in 2023.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Annual YoY inflation was highest at 7.7% in 2019.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Inflation pressure remained elevated through 2022 before easing in 2023.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17320"/>
            <a:ext cx="6766560" cy="7315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2240280"/>
            <a:ext cx="6766560" cy="7315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3063240"/>
            <a:ext cx="6766560" cy="7315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3886200"/>
            <a:ext cx="6766560" cy="7315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4709160"/>
            <a:ext cx="6766560" cy="7315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4595" y="1689811"/>
            <a:ext cx="18473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23A63"/>
                </a:solidFill>
              </a:defRPr>
            </a:pP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612BB9A1-9011-47F9-BB3B-DAF47162C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349691"/>
              </p:ext>
            </p:extLst>
          </p:nvPr>
        </p:nvGraphicFramePr>
        <p:xfrm>
          <a:off x="4351978" y="1051560"/>
          <a:ext cx="7564719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CPI Contribution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t>Latest category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6576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t>What stands out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Pan, Tobacco &amp; Intoxicants leads at 9.31%.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Clothing &amp; Footwear and Health are also among the higher shares.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Transport &amp; Communication has the lowest displayed share at 7.63%.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All category contribution shares together equal 100%.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E54DAE09-40E9-4833-8038-00F2443D1D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381800"/>
              </p:ext>
            </p:extLst>
          </p:nvPr>
        </p:nvGraphicFramePr>
        <p:xfrm>
          <a:off x="4414684" y="1188720"/>
          <a:ext cx="7492181" cy="498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A931C9-01EE-8A4E-7F55-D7F15797CD23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66EA3-BA17-252E-AA5B-E956E6AEC4C6}"/>
              </a:ext>
            </a:extLst>
          </p:cNvPr>
          <p:cNvSpPr txBox="1"/>
          <p:nvPr/>
        </p:nvSpPr>
        <p:spPr>
          <a:xfrm>
            <a:off x="521109" y="144518"/>
            <a:ext cx="425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YoY Inflation Trend (2017–2023)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3C0C991-A9E5-4FF5-8F49-43DA8FD854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767037"/>
              </p:ext>
            </p:extLst>
          </p:nvPr>
        </p:nvGraphicFramePr>
        <p:xfrm>
          <a:off x="230536" y="1140050"/>
          <a:ext cx="7330469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7F7578DC-9764-BD29-8184-EF22DC354148}"/>
              </a:ext>
            </a:extLst>
          </p:cNvPr>
          <p:cNvSpPr/>
          <p:nvPr/>
        </p:nvSpPr>
        <p:spPr>
          <a:xfrm>
            <a:off x="7870231" y="1140050"/>
            <a:ext cx="36576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rPr dirty="0"/>
              <a:t>Analytical read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</a:t>
            </a:r>
            <a:r>
              <a:rPr lang="en-IN" dirty="0"/>
              <a:t> </a:t>
            </a:r>
            <a:r>
              <a:rPr lang="en-IN" sz="1300" dirty="0">
                <a:solidFill>
                  <a:srgbClr val="28303A"/>
                </a:solidFill>
              </a:rPr>
              <a:t>YoY inflation declined from </a:t>
            </a:r>
            <a:r>
              <a:rPr lang="en-IN" sz="1300" b="1" dirty="0">
                <a:solidFill>
                  <a:srgbClr val="28303A"/>
                </a:solidFill>
              </a:rPr>
              <a:t>5.3% in 2017 to 2.3% in 2018</a:t>
            </a:r>
            <a:r>
              <a:rPr lang="en-IN" sz="1300" dirty="0">
                <a:solidFill>
                  <a:srgbClr val="28303A"/>
                </a:solidFill>
              </a:rPr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lang="en-US" dirty="0"/>
              <a:t>•  </a:t>
            </a:r>
            <a:r>
              <a:rPr lang="en-IN" sz="1300" dirty="0">
                <a:solidFill>
                  <a:srgbClr val="28303A"/>
                </a:solidFill>
              </a:rPr>
              <a:t>Inflation peaked at </a:t>
            </a:r>
            <a:r>
              <a:rPr lang="en-IN" sz="1300" b="1" dirty="0">
                <a:solidFill>
                  <a:srgbClr val="28303A"/>
                </a:solidFill>
              </a:rPr>
              <a:t>7.7% in 2019</a:t>
            </a:r>
            <a:r>
              <a:rPr lang="en-IN" sz="1300" dirty="0">
                <a:solidFill>
                  <a:srgbClr val="28303A"/>
                </a:solidFill>
              </a:rPr>
              <a:t>, the highest level in the period.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</a:t>
            </a:r>
            <a:r>
              <a:rPr lang="en-IN" dirty="0"/>
              <a:t>  </a:t>
            </a:r>
            <a:r>
              <a:rPr lang="en-IN" sz="1300" dirty="0">
                <a:solidFill>
                  <a:srgbClr val="28303A"/>
                </a:solidFill>
              </a:rPr>
              <a:t>Inflation remained elevated at around </a:t>
            </a:r>
            <a:r>
              <a:rPr lang="en-IN" sz="1300" b="1" dirty="0">
                <a:solidFill>
                  <a:srgbClr val="28303A"/>
                </a:solidFill>
              </a:rPr>
              <a:t>5.7%–6.0% during 2020–2022</a:t>
            </a:r>
            <a:r>
              <a:rPr lang="en-IN" sz="1300" dirty="0">
                <a:solidFill>
                  <a:srgbClr val="28303A"/>
                </a:solidFill>
              </a:rPr>
              <a:t>.</a:t>
            </a:r>
            <a:endParaRPr dirty="0"/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</a:t>
            </a:r>
            <a:r>
              <a:rPr lang="en-IN" dirty="0"/>
              <a:t>  </a:t>
            </a:r>
            <a:r>
              <a:rPr lang="en-IN" sz="1300" dirty="0">
                <a:solidFill>
                  <a:srgbClr val="28303A"/>
                </a:solidFill>
              </a:rPr>
              <a:t>YoY inflation dropped sharply to </a:t>
            </a:r>
            <a:r>
              <a:rPr lang="en-IN" sz="1300" b="1" dirty="0">
                <a:solidFill>
                  <a:srgbClr val="28303A"/>
                </a:solidFill>
              </a:rPr>
              <a:t>1.5% in 2023</a:t>
            </a:r>
            <a:r>
              <a:rPr lang="en-IN" sz="1300" dirty="0">
                <a:solidFill>
                  <a:srgbClr val="28303A"/>
                </a:solidFill>
              </a:rPr>
              <a:t>, indicating a significant easing in inflation pressure.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lang="en-IN" dirty="0"/>
              <a:t>•  </a:t>
            </a:r>
            <a:r>
              <a:rPr lang="en-IN" sz="1300" dirty="0">
                <a:solidFill>
                  <a:srgbClr val="28303A"/>
                </a:solidFill>
              </a:rPr>
              <a:t>The 2019 inflation spike was largely driven by rising food prices, particularly vegetables and onions. Unseasonal rains and supply disruptions affected crop availability, pushing food prices higher.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75151-393F-A56A-6EC6-3B54121477FD}"/>
              </a:ext>
            </a:extLst>
          </p:cNvPr>
          <p:cNvSpPr txBox="1"/>
          <p:nvPr/>
        </p:nvSpPr>
        <p:spPr>
          <a:xfrm>
            <a:off x="10504971" y="200516"/>
            <a:ext cx="12747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Annual </a:t>
            </a:r>
            <a:r>
              <a:rPr lang="en-IN" sz="900" dirty="0">
                <a:solidFill>
                  <a:schemeClr val="bg1"/>
                </a:solidFill>
              </a:rPr>
              <a:t>Inflation</a:t>
            </a:r>
            <a:r>
              <a:rPr lang="en-IN" sz="1000" dirty="0">
                <a:solidFill>
                  <a:schemeClr val="bg1"/>
                </a:solidFill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407905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Food Inflation | Jun 2022 – May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481" y="164592"/>
            <a:ext cx="8963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rPr dirty="0">
                <a:solidFill>
                  <a:schemeClr val="bg1"/>
                </a:solidFill>
              </a:rPr>
              <a:t>Monthly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6576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rPr dirty="0"/>
              <a:t>Key food insights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Highest food MoM inflation: Oct-22 at +0.97%.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Lowest food MoM inflation: Dec-22 at </a:t>
            </a:r>
            <a:endParaRPr lang="en-IN" dirty="0"/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-1.36%.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Food index rose from 175.53 in Jun-22 to about 178.87 in May-23.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Spices had the largest absolute increase: +30.47.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Oils &amp; fats had the largest absolute decline: -29.97.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0016" y="3429000"/>
            <a:ext cx="201168" cy="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6D40F341-1D6A-4C0F-9ABB-12E5EF49A2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8828706"/>
              </p:ext>
            </p:extLst>
          </p:nvPr>
        </p:nvGraphicFramePr>
        <p:xfrm>
          <a:off x="4494582" y="1056519"/>
          <a:ext cx="7402449" cy="5019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9832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COVID-19 Impact on Inflation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9155" y="164592"/>
            <a:ext cx="9637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rPr dirty="0">
                <a:solidFill>
                  <a:schemeClr val="bg1"/>
                </a:solidFill>
              </a:rPr>
              <a:t>Before vs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051560"/>
            <a:ext cx="32004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t>Category-level impact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Food: 0.65% → 0.81%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Transport: 0.48% → 0.70%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Fuel: 0.45% → -0.19%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Health: 0.36% → 0.13%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General: 0.50% → 0.42%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02C38A98-7E84-48F2-B0C7-A36F8D5A5C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4794447"/>
              </p:ext>
            </p:extLst>
          </p:nvPr>
        </p:nvGraphicFramePr>
        <p:xfrm>
          <a:off x="373627" y="1148666"/>
          <a:ext cx="7521676" cy="4926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A2D16A-30C0-4F21-BF59-4F2920EE8137}"/>
              </a:ext>
            </a:extLst>
          </p:cNvPr>
          <p:cNvSpPr/>
          <p:nvPr/>
        </p:nvSpPr>
        <p:spPr>
          <a:xfrm>
            <a:off x="0" y="-9832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EC63E-8794-01DA-E7B4-5777AD407633}"/>
              </a:ext>
            </a:extLst>
          </p:cNvPr>
          <p:cNvSpPr txBox="1"/>
          <p:nvPr/>
        </p:nvSpPr>
        <p:spPr>
          <a:xfrm>
            <a:off x="275303" y="134686"/>
            <a:ext cx="5545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Crude Oil Price Trend (Jan 2021–Apr 2023)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A431339-301B-46F9-9C9B-1650E02929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07227"/>
              </p:ext>
            </p:extLst>
          </p:nvPr>
        </p:nvGraphicFramePr>
        <p:xfrm>
          <a:off x="4100052" y="1101213"/>
          <a:ext cx="7747819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BA3074D0-3539-094C-40AE-2DEE0DB445D7}"/>
              </a:ext>
            </a:extLst>
          </p:cNvPr>
          <p:cNvSpPr/>
          <p:nvPr/>
        </p:nvSpPr>
        <p:spPr>
          <a:xfrm>
            <a:off x="157316" y="1101213"/>
            <a:ext cx="36576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rPr dirty="0"/>
              <a:t>Key findings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lang="en-US" dirty="0"/>
              <a:t>• </a:t>
            </a:r>
            <a:r>
              <a:rPr lang="en-IN" sz="1300" dirty="0">
                <a:solidFill>
                  <a:srgbClr val="28303A"/>
                </a:solidFill>
              </a:rPr>
              <a:t>Crude oil prices showed a </a:t>
            </a:r>
            <a:r>
              <a:rPr lang="en-IN" sz="1300" b="1" dirty="0">
                <a:solidFill>
                  <a:srgbClr val="28303A"/>
                </a:solidFill>
              </a:rPr>
              <a:t>strong upward trend from 2021 into mid-2022</a:t>
            </a:r>
            <a:r>
              <a:rPr lang="en-IN" sz="1300" dirty="0">
                <a:solidFill>
                  <a:srgbClr val="28303A"/>
                </a:solidFill>
              </a:rPr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</a:t>
            </a:r>
            <a:r>
              <a:rPr lang="en-IN" sz="1300" dirty="0">
                <a:solidFill>
                  <a:srgbClr val="28303A"/>
                </a:solidFill>
              </a:rPr>
              <a:t>Prices rose from around </a:t>
            </a:r>
            <a:r>
              <a:rPr lang="en-IN" sz="1300" b="1" dirty="0">
                <a:solidFill>
                  <a:srgbClr val="28303A"/>
                </a:solidFill>
              </a:rPr>
              <a:t>54 in Jan-2021 to a peak of about 115 in Jun-2022</a:t>
            </a:r>
            <a:r>
              <a:rPr lang="en-IN" sz="1300" dirty="0">
                <a:solidFill>
                  <a:srgbClr val="28303A"/>
                </a:solidFill>
              </a:rPr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</a:t>
            </a:r>
            <a:r>
              <a:rPr lang="en-IN" sz="1300" dirty="0">
                <a:solidFill>
                  <a:srgbClr val="28303A"/>
                </a:solidFill>
              </a:rPr>
              <a:t>After mid-2022, crude oil prices </a:t>
            </a:r>
            <a:r>
              <a:rPr lang="en-IN" sz="1300" b="1" dirty="0">
                <a:solidFill>
                  <a:srgbClr val="28303A"/>
                </a:solidFill>
              </a:rPr>
              <a:t>declined significantly</a:t>
            </a:r>
            <a:r>
              <a:rPr lang="en-IN" sz="1300" dirty="0">
                <a:solidFill>
                  <a:srgbClr val="28303A"/>
                </a:solidFill>
              </a:rPr>
              <a:t>, reaching around </a:t>
            </a:r>
            <a:r>
              <a:rPr lang="en-IN" sz="1300" b="1" dirty="0">
                <a:solidFill>
                  <a:srgbClr val="28303A"/>
                </a:solidFill>
              </a:rPr>
              <a:t>78 by Dec-2022</a:t>
            </a:r>
            <a:r>
              <a:rPr lang="en-IN" sz="1300" dirty="0">
                <a:solidFill>
                  <a:srgbClr val="28303A"/>
                </a:solidFill>
              </a:rPr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</a:t>
            </a:r>
            <a:r>
              <a:rPr lang="en-IN" sz="1300" dirty="0">
                <a:solidFill>
                  <a:srgbClr val="28303A"/>
                </a:solidFill>
              </a:rPr>
              <a:t>During early 2023, prices remained </a:t>
            </a:r>
            <a:r>
              <a:rPr lang="en-IN" sz="1300" b="1" dirty="0">
                <a:solidFill>
                  <a:srgbClr val="28303A"/>
                </a:solidFill>
              </a:rPr>
              <a:t>relatively stable around 80–85</a:t>
            </a:r>
            <a:r>
              <a:rPr lang="en-IN" sz="1300" dirty="0">
                <a:solidFill>
                  <a:srgbClr val="28303A"/>
                </a:solidFill>
              </a:rPr>
              <a:t>, with moderate fluctuations.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0276F8-FE40-537A-1C36-63252BFF65E7}"/>
              </a:ext>
            </a:extLst>
          </p:cNvPr>
          <p:cNvSpPr txBox="1"/>
          <p:nvPr/>
        </p:nvSpPr>
        <p:spPr>
          <a:xfrm>
            <a:off x="10547515" y="192394"/>
            <a:ext cx="13003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Monthly Price Trend</a:t>
            </a:r>
          </a:p>
        </p:txBody>
      </p:sp>
    </p:spTree>
    <p:extLst>
      <p:ext uri="{BB962C8B-B14F-4D97-AF65-F5344CB8AC3E}">
        <p14:creationId xmlns:p14="http://schemas.microsoft.com/office/powerpoint/2010/main" val="2192388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FC01E3-8FFC-9121-2FD2-5819A6A12E62}"/>
              </a:ext>
            </a:extLst>
          </p:cNvPr>
          <p:cNvSpPr/>
          <p:nvPr/>
        </p:nvSpPr>
        <p:spPr>
          <a:xfrm>
            <a:off x="0" y="-9832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7D255F7E-961C-4A21-50B6-A56B20A7065F}"/>
              </a:ext>
            </a:extLst>
          </p:cNvPr>
          <p:cNvSpPr/>
          <p:nvPr/>
        </p:nvSpPr>
        <p:spPr>
          <a:xfrm>
            <a:off x="8259096" y="1052052"/>
            <a:ext cx="36576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rPr dirty="0"/>
              <a:t>Key findings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lang="en-US" dirty="0"/>
              <a:t>• </a:t>
            </a:r>
            <a:r>
              <a:rPr lang="en-IN" sz="1300" b="1" dirty="0">
                <a:solidFill>
                  <a:srgbClr val="28303A"/>
                </a:solidFill>
              </a:rPr>
              <a:t>Crude oil showed much higher monthly volatility</a:t>
            </a:r>
            <a:r>
              <a:rPr lang="en-IN" sz="1300" dirty="0">
                <a:solidFill>
                  <a:srgbClr val="28303A"/>
                </a:solidFill>
              </a:rPr>
              <a:t> than the CPI categories, with sharp rises and falls during 2021–2023.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</a:t>
            </a:r>
            <a:r>
              <a:rPr lang="en-IN" sz="1300" dirty="0">
                <a:solidFill>
                  <a:srgbClr val="28303A"/>
                </a:solidFill>
              </a:rPr>
              <a:t>Oil recorded its </a:t>
            </a:r>
            <a:r>
              <a:rPr lang="en-IN" sz="1300" b="1" dirty="0">
                <a:solidFill>
                  <a:srgbClr val="28303A"/>
                </a:solidFill>
              </a:rPr>
              <a:t>largest monthly increase of +20.0% in Mar-22</a:t>
            </a:r>
            <a:r>
              <a:rPr lang="en-IN" sz="1300" dirty="0">
                <a:solidFill>
                  <a:srgbClr val="28303A"/>
                </a:solidFill>
              </a:rPr>
              <a:t> and its </a:t>
            </a:r>
            <a:r>
              <a:rPr lang="en-IN" sz="1300" b="1" dirty="0">
                <a:solidFill>
                  <a:srgbClr val="28303A"/>
                </a:solidFill>
              </a:rPr>
              <a:t>sharpest decline of -10.8% in Dec-22</a:t>
            </a:r>
            <a:r>
              <a:rPr lang="en-IN" sz="1300" dirty="0">
                <a:solidFill>
                  <a:srgbClr val="28303A"/>
                </a:solidFill>
              </a:rPr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 </a:t>
            </a:r>
            <a:r>
              <a:rPr lang="en-IN" sz="1300" dirty="0">
                <a:solidFill>
                  <a:srgbClr val="28303A"/>
                </a:solidFill>
              </a:rPr>
              <a:t>Food, Health, Fuel, Transport and General inflation remained </a:t>
            </a:r>
            <a:r>
              <a:rPr lang="en-IN" sz="1300" b="1" dirty="0">
                <a:solidFill>
                  <a:srgbClr val="28303A"/>
                </a:solidFill>
              </a:rPr>
              <a:t>relatively close to zero compared with oil's larger fluctuations</a:t>
            </a:r>
            <a:r>
              <a:rPr lang="en-IN" sz="1300" dirty="0">
                <a:solidFill>
                  <a:srgbClr val="28303A"/>
                </a:solidFill>
              </a:rPr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rPr dirty="0"/>
              <a:t>•</a:t>
            </a:r>
            <a:r>
              <a:rPr lang="en-IN" dirty="0"/>
              <a:t> </a:t>
            </a:r>
            <a:r>
              <a:rPr lang="en-IN" sz="1300" b="1" dirty="0">
                <a:solidFill>
                  <a:srgbClr val="28303A"/>
                </a:solidFill>
              </a:rPr>
              <a:t>General CPI had the highest correlation with oil at 0.13</a:t>
            </a:r>
            <a:r>
              <a:rPr lang="en-IN" sz="1300" dirty="0">
                <a:solidFill>
                  <a:srgbClr val="28303A"/>
                </a:solidFill>
              </a:rPr>
              <a:t>, while all tested category correlations remained weak.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385F575-54DF-4DC5-BC37-F9E2E277B8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2212333"/>
              </p:ext>
            </p:extLst>
          </p:nvPr>
        </p:nvGraphicFramePr>
        <p:xfrm>
          <a:off x="83272" y="1052052"/>
          <a:ext cx="8087334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26EA80-54DB-5DDD-5568-760287D3D0F9}"/>
              </a:ext>
            </a:extLst>
          </p:cNvPr>
          <p:cNvSpPr txBox="1"/>
          <p:nvPr/>
        </p:nvSpPr>
        <p:spPr>
          <a:xfrm>
            <a:off x="324464" y="134686"/>
            <a:ext cx="615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Imported Oil vs Category Inflation (2021–2023)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0B436-18A0-BF0A-285B-ED28B702D8C6}"/>
              </a:ext>
            </a:extLst>
          </p:cNvPr>
          <p:cNvSpPr txBox="1"/>
          <p:nvPr/>
        </p:nvSpPr>
        <p:spPr>
          <a:xfrm>
            <a:off x="10215716" y="192394"/>
            <a:ext cx="18213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Monthly Inflation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1379710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Imported Oil &amp; Inflation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t>2021–2023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657600" cy="5120640"/>
          </a:xfrm>
          <a:prstGeom prst="roundRect">
            <a:avLst/>
          </a:prstGeom>
          <a:solidFill>
            <a:srgbClr val="F3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23A63"/>
                </a:solidFill>
              </a:defRPr>
            </a:pPr>
            <a:r>
              <a:t>Key findings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Oil MoM peaked at +20.0% in Mar-22.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Oil MoM reached -10.8% in Dec-22.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General CPI had the strongest tested correlation: 0.13.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All tested correlations were weak.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Correlation shows association, not causation.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7FEEAE98-3FD0-4060-88EE-9595899653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818411"/>
              </p:ext>
            </p:extLst>
          </p:nvPr>
        </p:nvGraphicFramePr>
        <p:xfrm>
          <a:off x="4846320" y="1366241"/>
          <a:ext cx="6751320" cy="44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6260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t>Action-oriented conclusion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43000"/>
            <a:ext cx="502920" cy="502920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03836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A63"/>
                </a:solidFill>
              </a:defRPr>
            </a:pPr>
            <a:r>
              <a:rPr dirty="0"/>
              <a:t>Monitor food volatility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0462" y="1245877"/>
            <a:ext cx="666394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Track high-change food categories such as </a:t>
            </a:r>
            <a:r>
              <a:rPr lang="en-IN" sz="1300" b="1" dirty="0">
                <a:solidFill>
                  <a:srgbClr val="28303A"/>
                </a:solidFill>
              </a:rPr>
              <a:t>spices and oils &amp; fats</a:t>
            </a:r>
            <a:r>
              <a:rPr lang="en-IN" sz="1300" dirty="0">
                <a:solidFill>
                  <a:srgbClr val="28303A"/>
                </a:solidFill>
              </a:rPr>
              <a:t> to identify emerging food-price</a:t>
            </a:r>
          </a:p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pressure early.</a:t>
            </a:r>
            <a:endParaRPr b="1" dirty="0"/>
          </a:p>
        </p:txBody>
      </p:sp>
      <p:sp>
        <p:nvSpPr>
          <p:cNvPr id="9" name="Oval 8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/>
              <a:t>02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88720" y="2408744"/>
            <a:ext cx="304807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A63"/>
                </a:solidFill>
              </a:defRPr>
            </a:pPr>
            <a:r>
              <a:rPr lang="en-IN" sz="1700" b="1" dirty="0">
                <a:solidFill>
                  <a:srgbClr val="123A63"/>
                </a:solidFill>
              </a:rPr>
              <a:t>Monitor External Energy Shocks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739719" y="2412906"/>
            <a:ext cx="65195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Track imported oil alongside </a:t>
            </a:r>
            <a:r>
              <a:rPr lang="en-IN" sz="1300" b="1" dirty="0">
                <a:solidFill>
                  <a:srgbClr val="28303A"/>
                </a:solidFill>
              </a:rPr>
              <a:t>fuel and transport inflation</a:t>
            </a:r>
            <a:r>
              <a:rPr lang="en-IN" sz="1300" dirty="0">
                <a:solidFill>
                  <a:srgbClr val="28303A"/>
                </a:solidFill>
              </a:rPr>
              <a:t> to identify potential transmission of </a:t>
            </a:r>
          </a:p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energy-price shocks.</a:t>
            </a:r>
            <a:endParaRPr b="1" dirty="0"/>
          </a:p>
        </p:txBody>
      </p:sp>
      <p:sp>
        <p:nvSpPr>
          <p:cNvPr id="12" name="Oval 11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/>
              <a:t>03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188720" y="3550508"/>
            <a:ext cx="268932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A63"/>
                </a:solidFill>
              </a:defRPr>
            </a:pPr>
            <a:r>
              <a:rPr dirty="0"/>
              <a:t>Use </a:t>
            </a:r>
            <a:r>
              <a:rPr lang="en-IN" dirty="0"/>
              <a:t>C</a:t>
            </a:r>
            <a:r>
              <a:rPr dirty="0" err="1"/>
              <a:t>ategory</a:t>
            </a:r>
            <a:r>
              <a:rPr dirty="0"/>
              <a:t>-</a:t>
            </a:r>
            <a:r>
              <a:rPr lang="en-IN" dirty="0"/>
              <a:t>L</a:t>
            </a:r>
            <a:r>
              <a:rPr dirty="0" err="1"/>
              <a:t>evel</a:t>
            </a:r>
            <a:r>
              <a:rPr lang="en-IN" dirty="0"/>
              <a:t> Analysis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709160" y="3617924"/>
            <a:ext cx="650549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Monitor individual CPI categories instead of relying only on headline CPI, as inflation impacts </a:t>
            </a:r>
          </a:p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can vary significantly across categories.</a:t>
            </a:r>
            <a:r>
              <a:rPr dirty="0"/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572000"/>
            <a:ext cx="502920" cy="502920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/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63440"/>
            <a:ext cx="329455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A63"/>
                </a:solidFill>
              </a:defRPr>
            </a:pPr>
            <a:r>
              <a:rPr lang="en-IN" sz="1700" b="1" dirty="0">
                <a:solidFill>
                  <a:srgbClr val="123A63"/>
                </a:solidFill>
              </a:rPr>
              <a:t>Consider Multiple Inflation Drivers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740462" y="4697876"/>
            <a:ext cx="653864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Weak oil correlations suggest that </a:t>
            </a:r>
            <a:r>
              <a:rPr lang="en-IN" sz="1300" b="1" dirty="0">
                <a:solidFill>
                  <a:srgbClr val="28303A"/>
                </a:solidFill>
              </a:rPr>
              <a:t>broader economic and category-specific factors</a:t>
            </a:r>
            <a:r>
              <a:rPr lang="en-IN" sz="1300" dirty="0">
                <a:solidFill>
                  <a:srgbClr val="28303A"/>
                </a:solidFill>
              </a:rPr>
              <a:t> should be </a:t>
            </a:r>
          </a:p>
          <a:p>
            <a:pPr>
              <a:defRPr sz="1300">
                <a:solidFill>
                  <a:srgbClr val="28303A"/>
                </a:solidFill>
              </a:defRPr>
            </a:pPr>
            <a:r>
              <a:rPr lang="en-IN" sz="1300" dirty="0">
                <a:solidFill>
                  <a:srgbClr val="28303A"/>
                </a:solidFill>
              </a:rPr>
              <a:t>considered when assessing inflation movements.</a:t>
            </a:r>
            <a:endParaRPr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</a:defRPr>
            </a:pPr>
            <a:r>
              <a:t>Interactive workbook view</a:t>
            </a:r>
          </a:p>
        </p:txBody>
      </p:sp>
      <p:pic>
        <p:nvPicPr>
          <p:cNvPr id="6" name="Picture 5" descr="0b7f7c49-e807-4167-9d10-666404cbb6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40" y="825713"/>
            <a:ext cx="9940414" cy="5739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81360" y="65653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904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Das</cp:lastModifiedBy>
  <cp:revision>3</cp:revision>
  <dcterms:created xsi:type="dcterms:W3CDTF">2013-01-27T09:14:16Z</dcterms:created>
  <dcterms:modified xsi:type="dcterms:W3CDTF">2026-09-10T12:23:25Z</dcterms:modified>
  <cp:category/>
</cp:coreProperties>
</file>